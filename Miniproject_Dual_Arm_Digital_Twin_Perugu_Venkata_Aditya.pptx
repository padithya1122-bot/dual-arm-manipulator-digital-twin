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33cefa5-bc9f-e4e6-92bd-cde023a8257b}">
          <p14:sldIdLst>
            <p14:sldId id="256"/>
            <p14:sldId id="257"/>
          </p14:sldIdLst>
        </p14:section>
        <p14:section name="Introduction" id="{8c6adbf6-eefe-1014-f406-1f9a233310bf}">
          <p14:sldIdLst>
            <p14:sldId id="258"/>
            <p14:sldId id="259"/>
            <p14:sldId id="260"/>
          </p14:sldIdLst>
        </p14:section>
        <p14:section name="Concept" id="{72730ca3-b1c4-9a8f-2271-04ffa7813f24}">
          <p14:sldIdLst>
            <p14:sldId id="261"/>
          </p14:sldIdLst>
        </p14:section>
        <p14:section name="Methodology" id="{ccab0ae2-5d5a-7d00-0726-225042af285c}">
          <p14:sldIdLst>
            <p14:sldId id="262"/>
            <p14:sldId id="263"/>
          </p14:sldIdLst>
        </p14:section>
        <p14:section name="Implementation" id="{8745a6a8-9ce3-55c6-9490-3b767ab79310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" id="{93417d72-5458-e349-bd80-d7a170f93616}">
          <p14:sldIdLst>
            <p14:sldId id="271"/>
            <p14:sldId id="272"/>
            <p14:sldId id="273"/>
            <p14:sldId id="274"/>
          </p14:sldIdLst>
        </p14:section>
        <p14:section name="Analysis" id="{0475583d-0aef-448a-5051-381c2a63f97d}">
          <p14:sldIdLst>
            <p14:sldId id="275"/>
            <p14:sldId id="276"/>
            <p14:sldId id="277"/>
          </p14:sldIdLst>
        </p14:section>
        <p14:section name="Future" id="{8307aa4c-9902-4bc5-552a-4485bc5b1155}">
          <p14:sldIdLst>
            <p14:sldId id="278"/>
          </p14:sldIdLst>
        </p14:section>
        <p14:section name="Conclusion" id="{9229e866-c347-7419-ff66-eebb0aa67520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8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3A8A"/>
                </a:solidFill>
                <a:latin typeface="+mn-lt"/>
              </a:rPr>
              <a:t>Accuracy (%) per trial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 arm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  <c:pt idx="4">
                    <c:v>Average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97.02</c:v>
                </c:pt>
                <c:pt idx="1">
                  <c:v>97.22</c:v>
                </c:pt>
                <c:pt idx="2">
                  <c:v>95.88</c:v>
                </c:pt>
                <c:pt idx="3">
                  <c:v>96.26</c:v>
                </c:pt>
                <c:pt idx="4">
                  <c:v>96.6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 arm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  <c:pt idx="4">
                    <c:v>Average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96.39</c:v>
                </c:pt>
                <c:pt idx="1">
                  <c:v>96.33</c:v>
                </c:pt>
                <c:pt idx="2">
                  <c:v>95.1</c:v>
                </c:pt>
                <c:pt idx="3">
                  <c:v>97</c:v>
                </c:pt>
                <c:pt idx="4">
                  <c:v>96.2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9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 and guide. This project builds a digital twin of a dual-arm manipulator in NVIDIA Isaac Sim (Omniverse) with ROS2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 digital twin is useful before touching real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three outcomes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has a role in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twin mirrors the asset and exchanges data both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Ten-step workflow from CAD to final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view: design, simulation, control and physical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Accurate dimensions drive correct kinematics.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DH parameters and the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Hand-drawn frames were converted into the kinematic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 defined per link and joint.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Importing is not enough – verify joints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Pub/sub messaging links control nodes to the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OmniGraph visual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Joints within limits, stable chain, ROS2 control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commands, matching 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positions in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vs simulation across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 2, right 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96.6 % (right) and 96.2 % (left).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Physics tuning was the main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Inverse kinematics, real sync,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button to open the video (Google Drive).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results and thank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SASTR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Perugu Venkata Aditya  |  Mechanical Engineering (Digital Manufacturing)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96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cyGm3u0fEdeDOAn84CNeswvpYgo1QzH/view?usp=sharing" TargetMode="External"/><Relationship Id="rId3" Type="http://schemas.openxmlformats.org/officeDocument/2006/relationships/hyperlink" Target="https://drive.google.com/open?id=1fKyOm-ubXvaXNEoTIGf6GvLG79r7juI3" TargetMode="External"/><Relationship Id="rId1" Type="http://schemas.openxmlformats.org/officeDocument/2006/relationships/image" Target="../media/image-13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0NDK-k6iq3WmjXhqulKEO60IPlrJsgS/view?usp=drivesdk" TargetMode="External"/><Relationship Id="rId4" Type="http://schemas.openxmlformats.org/officeDocument/2006/relationships/hyperlink" Target="https://drive.google.com/open?id=1fKyOm-ubXvaXNEoTIGf6GvLG79r7juI3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hyperlink" Target="https://drive.google.com/file/d/16dLQKw2bhulFv47FFlEuDkFdsbtDPjSv/view?usp=sharing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image" Target="../media/image-22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edJm6hjxBDsFlY7tUgKxyNVvfptyHF3/view?usp=sharing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open?id=1fKyOm-ubXvaXNEoTIGf6GvLG79r7juI3" TargetMode="External"/><Relationship Id="rId2" Type="http://schemas.openxmlformats.org/officeDocument/2006/relationships/hyperlink" Target="https://drive.google.com/file/d/1ycyGm3u0fEdeDOAn84CNeswvpYgo1QzH/view?usp=sharing" TargetMode="External"/><Relationship Id="rId3" Type="http://schemas.openxmlformats.org/officeDocument/2006/relationships/hyperlink" Target="https://drive.google.com/file/d/1N0NDK-k6iq3WmjXhqulKEO60IPlrJsgS/view?usp=drivesdk" TargetMode="External"/><Relationship Id="rId4" Type="http://schemas.openxmlformats.org/officeDocument/2006/relationships/hyperlink" Target="https://drive.google.com/file/d/16dLQKw2bhulFv47FFlEuDkFdsbtDPjSv/view?usp=sharing" TargetMode="External"/><Relationship Id="rId5" Type="http://schemas.openxmlformats.org/officeDocument/2006/relationships/hyperlink" Target="https://drive.google.com/file/d/1kedJm6hjxBDsFlY7tUgKxyNVvfptyHF3/view?usp=sharing" TargetMode="Externa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SASTR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0" cy="475488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1188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AND SIMULATION OF A DUAL-ARM ROBOTIC MANIPULATOR WITH COORDINATE MOTION CONTROL IN NVIDIA OMNIVERSE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Mini Project – Final Viva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0F5"/>
                </a:solidFill>
              </a:rPr>
              <a:t>Presented by</a:t>
            </a:r>
            <a:endParaRPr lang="en-US" sz="1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Perugu Venkata Aditya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Mechanical Engineering (Digital Manufacturing)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0F5"/>
                </a:solidFill>
              </a:rPr>
              <a:t>Project Guide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Dr. Hari Krishnan R, Asst. Professor – III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School of Mechanical Engineering, SASTRA Deemed to be University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411480"/>
            <a:ext cx="274320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8" name="Image 1" descr="Dual-arm manipulator on a mobile 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457200"/>
            <a:ext cx="2590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Introduction &amp; Problem Statement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536192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5361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Objective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2066544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0665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Tools &amp; Technologies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5968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Digital Twin Concept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127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Methodology &amp; Architecture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3657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CAD Design &amp; Kinematics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4187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URDF &amp; Isaac Sim Implementation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754880" y="1005840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ROS2 Integration &amp; Action Graphs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754880" y="1536192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548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257800" y="15361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Results: Validation &amp; Control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4754880" y="2066544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5488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257800" y="20665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Hardware vs Simulation Comparison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754880" y="2596896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548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257800" y="25968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Accuracy Analysis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4754880" y="3127248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75488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257800" y="3127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Challenges &amp; Fixes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4754880" y="3657600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548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257800" y="3657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Future Work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754880" y="4187952"/>
            <a:ext cx="384048" cy="38404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75488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257800" y="4187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Demo Videos &amp; Conclusion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Bullets"/>
          <p:cNvSpPr txBox="1"/>
          <p:nvPr/>
        </p:nvSpPr>
        <p:spPr>
          <a:xfrm>
            <a:off x="365760" y="960120"/>
            <a:ext cx="475488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Dual-arm manipulators mimic human two-handed work – assembly, handling and collaborative manufacturing tasks.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Testing control code directly on hardware is slow, risky and costly (collisions, gravity collapse, wear).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A digital twin – a physics-accurate virtual copy – allows safe, repeatable, real-time experiments.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NVIDIA Omniverse / Isaac Sim provides GPU physics (PhysX) and native ROS2 connectivity.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338328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0" y="96012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014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3441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No validated virtual model of the dual-arm robot existed for safe control development.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94960" y="2194560"/>
            <a:ext cx="338328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4960" y="21945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22494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Need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578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 twin whose joint motion and end-effector pose match the real robot.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4960" y="3429000"/>
            <a:ext cx="338328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94960" y="3429000"/>
            <a:ext cx="64008" cy="109728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77840" y="3483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9A"/>
                </a:solidFill>
              </a:rPr>
              <a:t>Solution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3813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CAD → URDF → Isaac Sim → ROS2 pipeline, validated against hardware.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960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Develop a digital twin of the dual-arm manipulator for control, validation and training using ROS2 and a virtual environment.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828800"/>
            <a:ext cx="5120640" cy="91440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828800"/>
            <a:ext cx="64008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Real-Time Simulation &amp; Control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Command both arms and the mobile base live through ROS2 topics.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5120640" cy="91440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834640"/>
            <a:ext cx="64008" cy="91440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889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9A"/>
                </a:solidFill>
              </a:rPr>
              <a:t>Validation &amp; Performance Optimisation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18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Compare twin vs hardware to quantify accuracy and tune physics.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840480"/>
            <a:ext cx="5120640" cy="91440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84048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95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Training &amp; Development Platform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24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Safe sandbox to develop IK, monitoring and learning-based control.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960120"/>
            <a:ext cx="27432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8" name="Image 0" descr="Dual-arm robot c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720" y="1005840"/>
            <a:ext cx="2346960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Tools &amp; Technologies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05840"/>
            <a:ext cx="2011680" cy="8229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" y="1188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SolidWorks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160020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3D CAD of the dual-arm with accurate dimensions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00584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14600" y="1005840"/>
            <a:ext cx="2011680" cy="82296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24328" y="1188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D4"/>
                </a:solidFill>
              </a:rPr>
              <a:t>SW2URDF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24328" y="160020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Exports links, joints, mass, inertia to URDF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005840"/>
            <a:ext cx="2011680" cy="82296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88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</a:rPr>
              <a:t>URDF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773168" y="160020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XML robot description: links, joints, limits, dynamics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12280" y="100584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1005840"/>
            <a:ext cx="201168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22008" y="1188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NVIDIA Isaac Sim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22008" y="160020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Omniverse robotics simulator – the digital twin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78892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2788920"/>
            <a:ext cx="20116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548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PhysX Engine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" y="338328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GPU rigid-body physics; Physics Inspector for joints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514600" y="278892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14600" y="2788920"/>
            <a:ext cx="2011680" cy="8229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2432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ROS2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24328" y="338328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Middleware: topics, nodes, real-time messaging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278892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2788920"/>
            <a:ext cx="2011680" cy="82296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7316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D4"/>
                </a:solidFill>
              </a:rPr>
              <a:t>Action Graphs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73168" y="338328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Visual OmniGraph logic for joint and base control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12280" y="2788920"/>
            <a:ext cx="2011680" cy="164592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12280" y="2788920"/>
            <a:ext cx="2011680" cy="82296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92200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</a:rPr>
              <a:t>MATLAB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922008" y="338328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External control / future IK experiments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Digital Twin Concept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1429025"/>
            <a:ext cx="5285232" cy="2628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Digital twin concep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5601"/>
            <a:ext cx="5212080" cy="2555198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669280" y="1005840"/>
            <a:ext cx="310896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Physical asset and virtual model receive identical commands.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ROS2 acts as the shared communication layer.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Joint states and end-effector poses are logged on both sides.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Differences drive model tuning (mass, inertia, damping).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Once validated, the twin supports safe testing and training.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70745" y="923544"/>
            <a:ext cx="8202510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Methodology 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21" y="960120"/>
            <a:ext cx="8129358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" y="4297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Methodology workflow – CAD design to final validation with an iterative physics-tuning loop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192024" y="1267070"/>
            <a:ext cx="6108192" cy="313514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System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03646"/>
            <a:ext cx="6035040" cy="3061989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6400800" y="1005840"/>
            <a:ext cx="246888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Design layer: SolidWorks → SW2URDF export.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Simulation layer: Isaac Sim with PhysX, action graphs and ROS2 bridge.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Control layer: ROS2 nodes / MATLAB publish commands.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Physical layer: real dual-arm robot supplies comparison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CAD Model Design in SolidWorks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1092587"/>
            <a:ext cx="5468112" cy="311834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SolidWorks dual-arm assembly with feature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29163"/>
            <a:ext cx="5394960" cy="304519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" y="4389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Dual-arm manipulator assembly with coordinate axes fixed for each link</a:t>
            </a:r>
            <a:endParaRPr lang="en-US" sz="1000" dirty="0"/>
          </a:p>
        </p:txBody>
      </p:sp>
      <p:sp>
        <p:nvSpPr>
          <p:cNvPr id="7" name="Bullets"/>
          <p:cNvSpPr txBox="1"/>
          <p:nvPr/>
        </p:nvSpPr>
        <p:spPr>
          <a:xfrm>
            <a:off x="5852160" y="1005840"/>
            <a:ext cx="292608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Dual-arm manipulator modelled with accurate dimensions.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Parts organised as links; mating defines joints.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Coordinate axes fixed on every link for export.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Mass properties and inertia read from the model.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Model checked before URDF conversion.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Kinematic Definition – DH Convention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1387863"/>
            <a:ext cx="5468112" cy="252779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Denavit-Hartenberg parameter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24439"/>
            <a:ext cx="5394960" cy="2454641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852160" y="1005840"/>
            <a:ext cx="292608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Links and joints assigned for both arms.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Frames defined with the Denavit–Hartenberg convention.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Each arm: 6 revolute joints (RL1–RL6, LL1–LL6).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Homogeneous transforms chain base → end-effector.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Frame choice directly affects URDF joint axes.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Frames of Reference &amp; Kinematic Chain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1136712"/>
            <a:ext cx="3182112" cy="303009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Hand-drawn frames of refer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3288"/>
            <a:ext cx="3108960" cy="29569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Frames of reference – left and right arm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529584" y="1338692"/>
            <a:ext cx="5376672" cy="26261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1" descr="Kinematic 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75268"/>
            <a:ext cx="5303520" cy="25529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566160" y="4389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Kinematic tree: 12 revolute joints in total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URDF Model Generation (SW2URDF)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393192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960120"/>
            <a:ext cx="64008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14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Link mass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44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kg per link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673352"/>
            <a:ext cx="393192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673352"/>
            <a:ext cx="64008" cy="64008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728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FD4"/>
                </a:solidFill>
              </a:rPr>
              <a:t>Inertia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057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Ixx … Izz tensor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386584"/>
            <a:ext cx="393192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386584"/>
            <a:ext cx="64008" cy="64008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441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9A"/>
                </a:solidFill>
              </a:rPr>
              <a:t>Joint type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770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revolute / fixed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3099816"/>
            <a:ext cx="393192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099816"/>
            <a:ext cx="64008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Joint limits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483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position, velocity, effort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813048"/>
            <a:ext cx="393192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813048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67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Dynamics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1970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friction &amp; damping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0" y="960120"/>
            <a:ext cx="420624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0916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Illustrative URDF structure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1325880"/>
            <a:ext cx="3977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name="link_1"&gt;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&lt;inertial&gt;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&lt;mass value="..."/&gt;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&lt;inertia ixx="..." iyy="..." izz="..."/&gt;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&lt;/inertial&gt;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&lt;/link&gt;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&lt;joint name="RL1" type="revolute"&gt;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&lt;parent link="base"/&gt;&lt;child link="link_1"/&gt;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&lt;axis xyz="0 0 1"/&gt;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&lt;limit lower=".." upper=".."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velocity=".." effort=".."/&gt;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&lt;dynamics damping=".." friction=".."/&gt;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&lt;/joint&gt;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Isaac Sim Import &amp; PhysX Validation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995517"/>
            <a:ext cx="5468112" cy="258096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Isaac Sim with Physics Inspe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32093"/>
            <a:ext cx="5394960" cy="250781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" y="36576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Imported model with joint drives in the Physics Inspector</a:t>
            </a:r>
            <a:endParaRPr lang="en-US" sz="1000" dirty="0"/>
          </a:p>
        </p:txBody>
      </p:sp>
      <p:sp>
        <p:nvSpPr>
          <p:cNvPr id="7" name="Bullets"/>
          <p:cNvSpPr txBox="1"/>
          <p:nvPr/>
        </p:nvSpPr>
        <p:spPr>
          <a:xfrm>
            <a:off x="5852160" y="1005840"/>
            <a:ext cx="292608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Imported URDF into Isaac Sim.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Configured the Articulation Root.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Verified joint motion with Physics Inspector.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Checked limits, drive stiffness and damping.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Environment creation and sensor integration completed.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65760" y="4114800"/>
            <a:ext cx="2560320" cy="329184"/>
          </a:xfrm>
          <a:prstGeom prst="roundRect">
            <a:avLst>
              <a:gd name="adj" fmla="val 22222"/>
            </a:avLst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2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Video: Arm Movement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108960" y="4114800"/>
            <a:ext cx="2560320" cy="329184"/>
          </a:xfrm>
          <a:prstGeom prst="roundRect">
            <a:avLst>
              <a:gd name="adj" fmla="val 2222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108960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Video: Base Movement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ROS2 Integration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1207951"/>
            <a:ext cx="5742432" cy="270473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ROS2 communication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44527"/>
            <a:ext cx="5669280" cy="2631586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6126480" y="1005840"/>
            <a:ext cx="265176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ROS2 bridge enables communication between control nodes and the digital twin.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Joint-command topics drive both arms.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Velocity topics drive the mobile base.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Joint states / TF flow back for logging.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Real-time, loosely coupled design.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Action Graphs – Joint &amp; Base Control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Arm control graph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 Playback Tick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94560" y="1645920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51460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146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ROS2 Subscribe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Joint State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45920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66344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Articulation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Controller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1645920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1228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Left / Right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Arm Joints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2286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A"/>
                </a:solidFill>
              </a:rPr>
              <a:t>Base control graph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 Playback Tick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194560" y="2971800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51460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1460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ROS2 Subscribe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Twist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43400" y="2971800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66344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Differential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Controller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92240" y="2971800"/>
            <a:ext cx="3200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81228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1228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 Wheels</a:t>
            </a:r>
            <a:endParaRPr lang="en-US" sz="1050" dirty="0"/>
          </a:p>
        </p:txBody>
      </p:sp>
      <p:sp>
        <p:nvSpPr>
          <p:cNvPr id="28" name="Bullets"/>
          <p:cNvSpPr txBox="1"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Separate graphs for joint-level control and base movement.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Environment and sensors added to the same stage.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– Model Validation &amp; Control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929259"/>
            <a:ext cx="4279392" cy="243916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Model valid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5835"/>
            <a:ext cx="4206240" cy="236601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26864" y="984213"/>
            <a:ext cx="4279392" cy="232925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Image 1" descr="ROS2 arm control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20789"/>
            <a:ext cx="4206240" cy="22561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4320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Model validation &amp; action graph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4663440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Arm control via ROS2 commands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365760" y="3703320"/>
            <a:ext cx="54864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Joints responded correctly within defined limits; stable kinematic structure.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Mobile base responded accurately to ROS2 commands; real-time communication achieved.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Both arms controlled successfully with ROS commands; joint-level control validated.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035040" y="3840480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035040" y="3840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Video: Both Arms + Base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035040" y="4251960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035040" y="4251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4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Video: Base Movement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Hardware vs Simulation – Arm Orientations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997744"/>
            <a:ext cx="2816352" cy="3445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Left arm hardware vs sim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34320"/>
            <a:ext cx="2743200" cy="3372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89904" y="912684"/>
            <a:ext cx="2816352" cy="361531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Image 1" descr="Right arm hardware vs simul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49260"/>
            <a:ext cx="2743200" cy="3542161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432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Left arm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12648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Right arm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3200400" y="1051560"/>
            <a:ext cx="27889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Identical input commands to real robot and twin.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Joint parameters recorded in both environments.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End-effector positions compared.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Orientation showed strong similarity.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Twin reliably replicates physical behaviour.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Joint Parameters &amp; End-Effector Data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27432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9A"/>
                </a:solidFill>
              </a:rPr>
              <a:t>Right arm (RL1–RL6)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21792"/>
                <a:gridCol w="621792"/>
                <a:gridCol w="621792"/>
                <a:gridCol w="621792"/>
                <a:gridCol w="621792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HW X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HW 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HW 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SW X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SW 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SW 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-1.53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-205.74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847.99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-7.81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-181.55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840.80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96.84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-354.61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411.85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95.18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-355.70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427.09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186.12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-353.36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438.07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160.43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-352.75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430.43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187.17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-335.04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526.30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161.72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-334.56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517.56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80.86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-377.43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454.59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83.85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-365.75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464.83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Left arm (LL1–LL6)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21792"/>
                <a:gridCol w="621792"/>
                <a:gridCol w="621792"/>
                <a:gridCol w="621792"/>
                <a:gridCol w="621792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HW X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HW 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HW 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SW X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SW 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SW 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-118.00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-344.00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409.00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-114.00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-336.00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427.00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-119.50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-317.69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351.99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-114.00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-319.11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369.00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-207.68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-334.72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442.61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-179.00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-330.00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432.00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-207.62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-314.48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534.65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-179.00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-310.00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521.00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-104.12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-364.66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465.22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-103.74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-347.17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469.43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HW = hardware robot, SW = simulation. Joint-angle vectors for every trial are listed in the project report.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Mean absolute deviation (5 trials)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Right arm: X 12.4 mm · Y 7.6 mm · Z 9.8 mm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Left arm: X 13.4 mm · Y 7.2 mm · Z 12.7 mm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End-Effector Trajectory Comparison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05399" y="877824"/>
            <a:ext cx="3344081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Right arm trajectory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75" y="914400"/>
            <a:ext cx="3270929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30985" y="877824"/>
            <a:ext cx="3471149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Image 1" descr="Left arm trajectory compari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561" y="914400"/>
            <a:ext cx="3397997" cy="2514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4320" y="3456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Right arm – X, Y, Z comparison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4663440" y="3456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Left arm – X, Y, Z comparison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274320" y="3749040"/>
            <a:ext cx="42062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Tight trajectory matching; X peak gap at Trials 2–3 (hardware higher).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Y-axis very precise; Z-axis curves almost overlap.</a:t>
            </a:r>
            <a:endParaRPr lang="en-US" sz="1100" dirty="0"/>
          </a:p>
        </p:txBody>
      </p:sp>
      <p:sp>
        <p:nvSpPr>
          <p:cNvPr id="11" name="Bullets"/>
          <p:cNvSpPr txBox="1"/>
          <p:nvPr/>
        </p:nvSpPr>
        <p:spPr>
          <a:xfrm>
            <a:off x="4663440" y="3749040"/>
            <a:ext cx="42062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Hardware reads lower X than simulation until Trial 4.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Y-axis parallel and synchronised; Z converges by final trial.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Calculation – Worked Example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420624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960120"/>
            <a:ext cx="64008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14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1. Euclidean positional error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441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 = √[(x_hw−x_sw)² + (y_hw−y_sw)² + (z_hw−z_sw)²]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420624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148840"/>
            <a:ext cx="64008" cy="109728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2037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9A"/>
                </a:solidFill>
              </a:rPr>
              <a:t>2. Reach magnitude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5328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 = √[x_hw² + y_hw² + z_hw²]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337560"/>
            <a:ext cx="420624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33375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92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3. Percentage accuracy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721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Accuracy (%) = 100 × (1 − E / R)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10515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Right arm – Trial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HW = (96.84, −354.61, 411.85) mm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SW = (95.18, −355.70, 427.09) mm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0F172A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E = √(2.75 + 1.18 + 232.25) = 15.36 mm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 = 552.1 mm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0F172A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Accuracy = 100 × (1 − 15.36/552.1)</a:t>
            </a:r>
            <a:endParaRPr lang="en-US" sz="1250" dirty="0"/>
          </a:p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= 97.2 %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Results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05840"/>
          <a:ext cx="3200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Trial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Right (%)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Left (%)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97.02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96.39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02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97.22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96.33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03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95.88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95.10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04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96.26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97.00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AVG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96.60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96.20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B8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577840" y="3291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Both arms exceed 96 % average accuracy. The lowest value (95.1 %, left arm, Trial 3) coincides with the largest X offset in the trajectory plots.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Fixes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37744" y="982626"/>
            <a:ext cx="5925312" cy="278962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Issues, root causes and fi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19202"/>
            <a:ext cx="5852160" cy="27164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85431" y="877824"/>
            <a:ext cx="240817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Image 1" descr="Arm collaps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007" y="914400"/>
            <a:ext cx="2335026" cy="14630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272784" y="2444534"/>
            <a:ext cx="2633472" cy="15117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9" name="Image 2" descr="Corrected model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81110"/>
            <a:ext cx="2560320" cy="1438580"/>
          </a:xfrm>
          <a:prstGeom prst="rect">
            <a:avLst/>
          </a:prstGeom>
        </p:spPr>
      </p:pic>
      <p:sp>
        <p:nvSpPr>
          <p:cNvPr id="10" name="Bullets"/>
          <p:cNvSpPr txBox="1"/>
          <p:nvPr/>
        </p:nvSpPr>
        <p:spPr>
          <a:xfrm>
            <a:off x="365760" y="3931920"/>
            <a:ext cx="5669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Learning: correct mass/inertia, joint axes and damping are essential for a stable twin.</a:t>
            </a:r>
            <a:endParaRPr lang="en-US" sz="1150" dirty="0"/>
          </a:p>
        </p:txBody>
      </p:sp>
      <p:sp>
        <p:nvSpPr>
          <p:cNvPr id="11" name="Shape 5"/>
          <p:cNvSpPr/>
          <p:nvPr/>
        </p:nvSpPr>
        <p:spPr>
          <a:xfrm>
            <a:off x="6309360" y="4069080"/>
            <a:ext cx="256032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309360" y="4069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4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Video: Falling Arms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Tasks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1983494" y="877824"/>
            <a:ext cx="5177013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Roa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070" y="914400"/>
            <a:ext cx="5103861" cy="1737360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365760" y="2788920"/>
            <a:ext cx="47548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Implement inverse kinematics so the twin reaches a desired end-effector position.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Synchronise the actual dual-arm manipulator with the simulation via ROS2.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Enable monitoring and control/training through the digital twin.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519085" y="2660904"/>
            <a:ext cx="249495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1" descr="Action graph / MATLAB net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661" y="2697480"/>
            <a:ext cx="2421798" cy="14630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394960" y="4297680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394960" y="4297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Video: MATLAB Control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Videos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960120"/>
            <a:ext cx="73152" cy="64008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960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9A"/>
                </a:solidFill>
              </a:rPr>
              <a:t>1. Dual Arm Base Movement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Mobile base driven by ROS2 commands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111556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115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1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Watch video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841248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691640"/>
            <a:ext cx="73152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2. Arm Movement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Joint-level arm control in Isaac Sim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184708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1847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2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Watch video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841248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423160"/>
            <a:ext cx="73152" cy="64008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D4"/>
                </a:solidFill>
              </a:rPr>
              <a:t>3. Both Arms and Base Movement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Coordinated arms + base motion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92240" y="257860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25786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Watch video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154680"/>
            <a:ext cx="841248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154680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154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4. Falling Arms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Gravity collapse before physics fixes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92240" y="331012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310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4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Watch video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solidFill>
            <a:srgbClr val="EEF3FB"/>
          </a:solidFill>
          <a:ln w="9525">
            <a:solidFill>
              <a:srgbClr val="DCE4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88620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" y="3886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5. MATLAB Control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MATLAB-based control experiment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92240" y="404164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5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Watch video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91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Thank You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2697480" cy="1143000"/>
          </a:xfrm>
          <a:prstGeom prst="rect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005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96.6 %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Right-arm average accuracy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960120"/>
            <a:ext cx="2697480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00400" y="1005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96.2 %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Left-arm average accuracy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960120"/>
            <a:ext cx="269748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005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12 DOF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Two 6-joint arms controlled via ROS2</a:t>
            </a:r>
            <a:endParaRPr lang="en-US" sz="1100" dirty="0"/>
          </a:p>
        </p:txBody>
      </p:sp>
      <p:sp>
        <p:nvSpPr>
          <p:cNvPr id="13" name="Bullets"/>
          <p:cNvSpPr txBox="1"/>
          <p:nvPr/>
        </p:nvSpPr>
        <p:spPr>
          <a:xfrm>
            <a:off x="365760" y="2331720"/>
            <a:ext cx="51206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A validated digital twin of the dual-arm manipulator was built in Isaac Sim using a CAD → URDF → ROS2 pipeline.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Twin and hardware agree closely in orientation and end-effector position.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The platform is ready for IK, hardware synchronisation and training.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60720" y="2331720"/>
            <a:ext cx="301752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242316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</a:rPr>
              <a:t>Thank you!</a:t>
            </a:r>
            <a:endParaRPr lang="en-US" sz="2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Perugu Venkata Aditya</a:t>
            </a:r>
            <a:endParaRPr lang="en-US" sz="22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Mechanical Engineering (Digital Manufacturing)</a:t>
            </a:r>
            <a:endParaRPr lang="en-US" sz="22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Guide: Dr. Hari Krishnan 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Twin">
  <a:themeElements>
    <a:clrScheme name="DigitalTwin">
      <a:dk1>
        <a:srgbClr val="0F172A"/>
      </a:dk1>
      <a:lt1>
        <a:srgbClr val="FFFFFF"/>
      </a:lt1>
      <a:dk2>
        <a:srgbClr val="1E3A8A"/>
      </a:dk2>
      <a:lt2>
        <a:srgbClr val="EEF3FB"/>
      </a:lt2>
      <a:accent1>
        <a:srgbClr val="1E3A8A"/>
      </a:accent1>
      <a:accent2>
        <a:srgbClr val="0E9F9A"/>
      </a:accent2>
      <a:accent3>
        <a:srgbClr val="F59E0B"/>
      </a:accent3>
      <a:accent4>
        <a:srgbClr val="3B6FD4"/>
      </a:accent4>
      <a:accent5>
        <a:srgbClr val="16A34A"/>
      </a:accent5>
      <a:accent6>
        <a:srgbClr val="DC2626"/>
      </a:accent6>
      <a:hlink>
        <a:srgbClr val="1D4ED8"/>
      </a:hlink>
      <a:folHlink>
        <a:srgbClr val="6D28D9"/>
      </a:folHlink>
    </a:clrScheme>
    <a:fontScheme name="Digital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Dual-Arm Manipulator Digital Twin - Perugu Venkata Aditya</dc:title>
  <dc:subject>PptxGenJS Presentation</dc:subject>
  <dc:creator>Perugu Venkata Aditya</dc:creator>
  <cp:lastModifiedBy>Perugu Venkata Aditya</cp:lastModifiedBy>
  <cp:revision>1</cp:revision>
  <dcterms:created xsi:type="dcterms:W3CDTF">2026-10-25T07:04:43Z</dcterms:created>
  <dcterms:modified xsi:type="dcterms:W3CDTF">2026-10-25T07:04:43Z</dcterms:modified>
</cp:coreProperties>
</file>